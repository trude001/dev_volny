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DM Sans Medium"/>
      <p:regular r:id="rId16"/>
      <p:bold r:id="rId17"/>
      <p:italic r:id="rId18"/>
      <p:boldItalic r:id="rId19"/>
    </p:embeddedFont>
    <p:embeddedFont>
      <p:font typeface="Cinzel"/>
      <p:regular r:id="rId20"/>
      <p:bold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inzel-regular.fntdata"/><Relationship Id="rId22" Type="http://schemas.openxmlformats.org/officeDocument/2006/relationships/font" Target="fonts/DMSans-regular.fntdata"/><Relationship Id="rId21" Type="http://schemas.openxmlformats.org/officeDocument/2006/relationships/font" Target="fonts/Cinzel-bold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DMSansMedium-bold.fntdata"/><Relationship Id="rId16" Type="http://schemas.openxmlformats.org/officeDocument/2006/relationships/font" Target="fonts/DMSansMedium-regular.fntdata"/><Relationship Id="rId19" Type="http://schemas.openxmlformats.org/officeDocument/2006/relationships/font" Target="fonts/DMSansMedium-boldItalic.fntdata"/><Relationship Id="rId18" Type="http://schemas.openxmlformats.org/officeDocument/2006/relationships/font" Target="fonts/DM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f46dc6bb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ef46dc6bbe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f46dc6bb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f46dc6bbe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f46dc6b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f46dc6bb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f46dc6bb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f46dc6bbe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slide" Target="/ppt/slides/slide5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slide" Target="/ppt/slides/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slide" Target="/ppt/slides/slide5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slide" Target="/ppt/slides/slide5.xml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hyperlink" Target="https://trello.com/b/ekKutdW0/mon-tableau-trello" TargetMode="External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slide" Target="/ppt/slides/slide5.xml"/><Relationship Id="rId11" Type="http://schemas.openxmlformats.org/officeDocument/2006/relationships/image" Target="../media/image13.png"/><Relationship Id="rId10" Type="http://schemas.openxmlformats.org/officeDocument/2006/relationships/image" Target="../media/image14.png"/><Relationship Id="rId13" Type="http://schemas.openxmlformats.org/officeDocument/2006/relationships/hyperlink" Target="https://docs.google.com/document/d/1vuQ9_qaVqbtBl2VRGGgh5qT56lhz542w/edit?usp=drive_link&amp;ouid=117702700361483265523&amp;rtpof=true&amp;sd=true" TargetMode="External"/><Relationship Id="rId12" Type="http://schemas.openxmlformats.org/officeDocument/2006/relationships/hyperlink" Target="https://docs.google.com/document/d/1cJz29DgVqBMHoH9TMGVGHkRy8gyvFLkc/edit?usp=drive_link&amp;ouid=117702700361483265523&amp;rtpof=true&amp;sd=true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5" Type="http://schemas.openxmlformats.org/officeDocument/2006/relationships/hyperlink" Target="https://docs.google.com/document/d/1ywrQKsUnwgg48xWNwHpzVQlbGw5Nha8c/edit?usp=drive_link&amp;ouid=117702700361483265523&amp;rtpof=true&amp;sd=true" TargetMode="External"/><Relationship Id="rId14" Type="http://schemas.openxmlformats.org/officeDocument/2006/relationships/hyperlink" Target="https://docs.google.com/document/d/15qmrFg8R4Il--ZIqOMj0J3zqKnf7I4U7/edit?usp=drive_link&amp;ouid=117702700361483265523&amp;rtpof=true&amp;sd=true" TargetMode="External"/><Relationship Id="rId17" Type="http://schemas.openxmlformats.org/officeDocument/2006/relationships/hyperlink" Target="https://drive.google.com/drive/folders/1_BFXoLfxocRWd2wVbdlg3cjqEjgyuJ0o?usp=drive_link" TargetMode="External"/><Relationship Id="rId16" Type="http://schemas.openxmlformats.org/officeDocument/2006/relationships/hyperlink" Target="https://docs.google.com/document/d/1BmMRZy7iIweDNf9wKsYxyU1Ia0ByOBTv/edit?usp=drive_link&amp;ouid=117702700361483265523&amp;rtpof=true&amp;sd=true" TargetMode="External"/><Relationship Id="rId5" Type="http://schemas.openxmlformats.org/officeDocument/2006/relationships/hyperlink" Target="https://docs.google.com/spreadsheets/d/1ImAb-e6QgpumCZ4XYCbLJYqo5nnU7k0P/edit?usp=drive_link&amp;ouid=117702700361483265523&amp;rtpof=true&amp;sd=true" TargetMode="External"/><Relationship Id="rId19" Type="http://schemas.openxmlformats.org/officeDocument/2006/relationships/hyperlink" Target="https://docs.google.com/document/d/1HfqcvNMUyURORxyklOVhB3BLy6-zA5iIMY2xt--UcgY/edit?usp=drive_link" TargetMode="External"/><Relationship Id="rId6" Type="http://schemas.openxmlformats.org/officeDocument/2006/relationships/hyperlink" Target="https://volnymogets-team-squad.monday.com/boards/5099178254" TargetMode="External"/><Relationship Id="rId18" Type="http://schemas.openxmlformats.org/officeDocument/2006/relationships/hyperlink" Target="https://docs.google.com/document/d/1tMG9xXuOMyNlAspaF_ZmZKrXDKgXglL7/edit?usp=drive_link&amp;ouid=117702700361483265523&amp;rtpof=true&amp;sd=true" TargetMode="External"/><Relationship Id="rId7" Type="http://schemas.openxmlformats.org/officeDocument/2006/relationships/hyperlink" Target="https://docs.google.com/document/d/1Xd-3YcTqJziEwx3cg-sVgEtzonzvYedH/edit?usp=drive_link&amp;ouid=117702700361483265523&amp;rtpof=true&amp;sd=true" TargetMode="External"/><Relationship Id="rId8" Type="http://schemas.openxmlformats.org/officeDocument/2006/relationships/hyperlink" Target="https://docs.google.com/document/d/1F9oeiLldpgqcExNIGApVMPpGTezjmqoy/edit?usp=drive_link&amp;ouid=117702700361483265523&amp;rtpof=true&amp;sd=tru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hyperlink" Target="https://docs.google.com/document/d/1tMG9xXuOMyNlAspaF_ZmZKrXDKgXglL7/edit?usp=drive_link&amp;ouid=117702700361483265523&amp;rtpof=true&amp;sd=true" TargetMode="External"/><Relationship Id="rId6" Type="http://schemas.openxmlformats.org/officeDocument/2006/relationships/hyperlink" Target="https://docs.google.com/document/u/0/d/1HfqcvNMUyURORxyklOVhB3BLy6-zA5iIMY2xt--UcgY/edit" TargetMode="External"/><Relationship Id="rId7" Type="http://schemas.openxmlformats.org/officeDocument/2006/relationships/image" Target="../media/image15.png"/><Relationship Id="rId8" Type="http://schemas.openxmlformats.org/officeDocument/2006/relationships/slide" Target="/ppt/slides/slide5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hyperlink" Target="https://docs.google.com/document/d/15qmrFg8R4Il--ZIqOMj0J3zqKnf7I4U7/edit?usp=drive_link&amp;ouid=117702700361483265523&amp;rtpof=true&amp;sd=true" TargetMode="External"/><Relationship Id="rId6" Type="http://schemas.openxmlformats.org/officeDocument/2006/relationships/hyperlink" Target="https://docs.google.com/document/d/1ywrQKsUnwgg48xWNwHpzVQlbGw5Nha8c/edit?usp=drive_link&amp;ouid=117702700361483265523&amp;rtpof=true&amp;sd=true" TargetMode="External"/><Relationship Id="rId7" Type="http://schemas.openxmlformats.org/officeDocument/2006/relationships/slide" Target="/ppt/slides/slide5.xml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5.xml"/><Relationship Id="rId10" Type="http://schemas.openxmlformats.org/officeDocument/2006/relationships/hyperlink" Target="https://docs.google.com/document/d/1CBIX0sR9xqUX_jWFPUlaMi3vnEht2RrK/edit?usp=drive_link&amp;ouid=117702700361483265523&amp;rtpof=true&amp;sd=true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hyperlink" Target="https://docs.google.com/document/d/1CBIX0sR9xqUX_jWFPUlaMi3vnEht2RrK/edit?usp=drive_link&amp;ouid=117702700361483265523&amp;rtpof=true&amp;sd=true" TargetMode="External"/><Relationship Id="rId5" Type="http://schemas.openxmlformats.org/officeDocument/2006/relationships/hyperlink" Target="https://docs.google.com/document/d/1CBIX0sR9xqUX_jWFPUlaMi3vnEht2RrK/edit?usp=drive_link&amp;ouid=117702700361483265523&amp;rtpof=true&amp;sd=true" TargetMode="External"/><Relationship Id="rId6" Type="http://schemas.openxmlformats.org/officeDocument/2006/relationships/image" Target="../media/image14.png"/><Relationship Id="rId7" Type="http://schemas.openxmlformats.org/officeDocument/2006/relationships/hyperlink" Target="https://docs.google.com/document/d/1CBIX0sR9xqUX_jWFPUlaMi3vnEht2RrK/edit?usp=drive_link&amp;ouid=117702700361483265523&amp;rtpof=true&amp;sd=true" TargetMode="External"/><Relationship Id="rId8" Type="http://schemas.openxmlformats.org/officeDocument/2006/relationships/hyperlink" Target="https://docs.google.com/document/d/1CBIX0sR9xqUX_jWFPUlaMi3vnEht2RrK/edit?usp=drive_link&amp;ouid=117702700361483265523&amp;rtpof=true&amp;sd=tru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slide" Target="/ppt/slides/slide8.xml"/><Relationship Id="rId6" Type="http://schemas.openxmlformats.org/officeDocument/2006/relationships/hyperlink" Target="https://docs.google.com/document/d/1ywrQKsUnwgg48xWNwHpzVQlbGw5Nha8c/edit?usp=drive_link&amp;ouid=117702700361483265523&amp;rtpof=true&amp;sd=true" TargetMode="External"/><Relationship Id="rId7" Type="http://schemas.openxmlformats.org/officeDocument/2006/relationships/slide" Target="/ppt/slides/slide5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slide" Target="/ppt/slides/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7"/>
            <a:ext cx="12191999" cy="6854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9275" y="38576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00375" y="2627735"/>
            <a:ext cx="6191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65F2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Gestion de Projet et IA - 06/2026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9" y="3016600"/>
            <a:ext cx="121920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Tableau de bord cybersécurité </a:t>
            </a:r>
            <a:endParaRPr b="1" sz="4350">
              <a:solidFill>
                <a:srgbClr val="F4EEDB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pour dirigeants</a:t>
            </a:r>
            <a:endParaRPr b="1" sz="4350">
              <a:solidFill>
                <a:srgbClr val="F4EEDB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50">
              <a:solidFill>
                <a:srgbClr val="F4EEDB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106825" y="5427777"/>
            <a:ext cx="6191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Exercice atelier — Gestion de projet augmentée par IA générative 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725025" y="381000"/>
            <a:ext cx="2290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Promo turing - equipe fhmv</a:t>
            </a:r>
            <a:endParaRPr/>
          </a:p>
        </p:txBody>
      </p:sp>
      <p:sp>
        <p:nvSpPr>
          <p:cNvPr id="90" name="Google Shape;90;p13">
            <a:hlinkClick action="ppaction://hlinksldjump" r:id="rId5"/>
          </p:cNvPr>
          <p:cNvSpPr/>
          <p:nvPr/>
        </p:nvSpPr>
        <p:spPr>
          <a:xfrm>
            <a:off x="10598975" y="6355000"/>
            <a:ext cx="261000" cy="254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65F2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" y="1727"/>
            <a:ext cx="12191999" cy="6854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9275" y="38576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1703600"/>
            <a:ext cx="106680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4EEDB"/>
              </a:buClr>
              <a:buSzPts val="2400"/>
              <a:buFont typeface="DM Sans"/>
              <a:buChar char="●"/>
            </a:pPr>
            <a:r>
              <a:rPr b="1" lang="en-US" sz="240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Présentation entreprise</a:t>
            </a:r>
            <a:endParaRPr b="1" sz="2400">
              <a:solidFill>
                <a:srgbClr val="F4EED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4EEDB"/>
              </a:buClr>
              <a:buSzPts val="2400"/>
              <a:buFont typeface="DM Sans"/>
              <a:buChar char="●"/>
            </a:pPr>
            <a:r>
              <a:rPr b="1" lang="en-US" sz="240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Demande du COPROJ</a:t>
            </a:r>
            <a:endParaRPr b="1" sz="2400">
              <a:solidFill>
                <a:srgbClr val="F4EED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4EEDB"/>
              </a:buClr>
              <a:buSzPts val="2400"/>
              <a:buFont typeface="DM Sans"/>
              <a:buChar char="●"/>
            </a:pPr>
            <a:r>
              <a:rPr b="1" lang="en-US" sz="240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Notre vision</a:t>
            </a:r>
            <a:endParaRPr b="1" sz="2400">
              <a:solidFill>
                <a:srgbClr val="F4EED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4EEDB"/>
              </a:buClr>
              <a:buSzPts val="2400"/>
              <a:buFont typeface="DM Sans"/>
              <a:buChar char="●"/>
            </a:pPr>
            <a:r>
              <a:rPr b="1" lang="en-US" sz="240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IA</a:t>
            </a:r>
            <a:endParaRPr b="1" sz="2400">
              <a:solidFill>
                <a:srgbClr val="F4EED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4EEDB"/>
              </a:buClr>
              <a:buSzPts val="2400"/>
              <a:buFont typeface="DM Sans"/>
              <a:buChar char="●"/>
            </a:pPr>
            <a:r>
              <a:rPr b="1" lang="en-US" sz="240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Risques</a:t>
            </a:r>
            <a:endParaRPr b="1" sz="2400">
              <a:solidFill>
                <a:srgbClr val="F4EED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4EEDB"/>
              </a:buClr>
              <a:buSzPts val="2400"/>
              <a:buFont typeface="DM Sans"/>
              <a:buChar char="●"/>
            </a:pPr>
            <a:r>
              <a:rPr b="1" lang="en-US" sz="240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Dashboard</a:t>
            </a:r>
            <a:endParaRPr b="1" sz="2400">
              <a:solidFill>
                <a:srgbClr val="F4EED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4EEDB"/>
              </a:buClr>
              <a:buSzPts val="2400"/>
              <a:buFont typeface="DM Sans"/>
              <a:buChar char="●"/>
            </a:pPr>
            <a:r>
              <a:rPr b="1" lang="en-US" sz="240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Demande validation CODIR</a:t>
            </a:r>
            <a:endParaRPr b="1" sz="2400">
              <a:solidFill>
                <a:srgbClr val="F4EED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725025" y="381000"/>
            <a:ext cx="2306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Promo turing - equipe fhmv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SOMMAIRE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762000" y="1152525"/>
            <a:ext cx="10668000" cy="19200"/>
          </a:xfrm>
          <a:prstGeom prst="rect">
            <a:avLst/>
          </a:prstGeom>
          <a:solidFill>
            <a:srgbClr val="E65F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>
            <a:hlinkClick action="ppaction://hlinksldjump" r:id="rId5"/>
          </p:cNvPr>
          <p:cNvSpPr/>
          <p:nvPr/>
        </p:nvSpPr>
        <p:spPr>
          <a:xfrm>
            <a:off x="10598975" y="6355000"/>
            <a:ext cx="261000" cy="254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65F2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EDB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231" y="-17210"/>
            <a:ext cx="12191999" cy="6854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0725" y="4522550"/>
            <a:ext cx="8150500" cy="222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304075"/>
            <a:ext cx="5034600" cy="21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7300" y="2304069"/>
            <a:ext cx="4610700" cy="21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01131" y="4647187"/>
            <a:ext cx="43910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39275" y="38576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25525" y="2401144"/>
            <a:ext cx="3769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9CB9C"/>
                </a:solidFill>
                <a:latin typeface="Cinzel"/>
                <a:ea typeface="Cinzel"/>
                <a:cs typeface="Cinzel"/>
                <a:sym typeface="Cinzel"/>
              </a:rPr>
              <a:t>CODIR</a:t>
            </a:r>
            <a:endParaRPr>
              <a:solidFill>
                <a:srgbClr val="F9CB9C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825525" y="2790700"/>
            <a:ext cx="48189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Marc Lefebvre (PDG)</a:t>
            </a:r>
            <a:endParaRPr sz="135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Sarah Chen (CFO - Directrice Financière)</a:t>
            </a:r>
            <a:endParaRPr sz="135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Thomas Durand (COO - Directeur des Opérations)</a:t>
            </a:r>
            <a:endParaRPr sz="135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Clara Rossi (DSI - Directrice des Systèmes d'Information)</a:t>
            </a:r>
            <a:endParaRPr sz="135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Equipe de Direction : Thierry Chadelaud, Bruno, Roxana, Fano</a:t>
            </a:r>
            <a:endParaRPr sz="135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819300" y="2401156"/>
            <a:ext cx="461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94A3B8"/>
                </a:solidFill>
                <a:latin typeface="Cinzel"/>
                <a:ea typeface="Cinzel"/>
                <a:cs typeface="Cinzel"/>
                <a:sym typeface="Cinzel"/>
              </a:rPr>
              <a:t>COPROJ</a:t>
            </a:r>
            <a:endParaRPr>
              <a:solidFill>
                <a:srgbClr val="94A3B8"/>
              </a:solidFill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819263" y="2720256"/>
            <a:ext cx="4391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Le RSSI de LogiSafe (votre référent technique et expert métier).</a:t>
            </a:r>
            <a:endParaRPr sz="135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Les administrateurs systèmes (fournisseurs des données brutes).</a:t>
            </a:r>
            <a:endParaRPr sz="135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725025" y="381000"/>
            <a:ext cx="2321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50">
                <a:solidFill>
                  <a:schemeClr val="dk1"/>
                </a:solidFill>
                <a:latin typeface="Cinzel"/>
                <a:ea typeface="Cinzel"/>
                <a:cs typeface="Cinzel"/>
                <a:sym typeface="Cinzel"/>
              </a:rPr>
              <a:t>Promo turing - equipe fhmv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94A3B8"/>
                </a:solidFill>
                <a:latin typeface="Cinzel"/>
                <a:ea typeface="Cinzel"/>
                <a:cs typeface="Cinzel"/>
                <a:sym typeface="Cinzel"/>
              </a:rPr>
              <a:t>LOGISAFE INTERNATIONAL</a:t>
            </a:r>
            <a:endParaRPr>
              <a:solidFill>
                <a:srgbClr val="94A3B8"/>
              </a:solidFill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62000" y="1152525"/>
            <a:ext cx="10668000" cy="192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2177163" y="4735162"/>
            <a:ext cx="461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32B"/>
                </a:solidFill>
                <a:latin typeface="Cinzel"/>
                <a:ea typeface="Cinzel"/>
                <a:cs typeface="Cinzel"/>
                <a:sym typeface="Cinzel"/>
              </a:rPr>
              <a:t>COPIL 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2177185" y="5229875"/>
            <a:ext cx="79941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Volny </a:t>
            </a:r>
            <a:r>
              <a:rPr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(Chef de Projet) : Interlocuteur direct de la DSI pour le cadrage et les arbitrages.</a:t>
            </a:r>
            <a:endParaRPr sz="13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Mohammad</a:t>
            </a:r>
            <a:r>
              <a:rPr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(Responsable IA) : Expert en prototypage et usage de l'IA comme assistant de pilotage.</a:t>
            </a:r>
            <a:endParaRPr sz="13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Feity </a:t>
            </a:r>
            <a:r>
              <a:rPr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(Responsable Risques &amp; Changement) : En charge de l'adhésion des dirigeants au futur dashboard.</a:t>
            </a:r>
            <a:endParaRPr sz="13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Hakima</a:t>
            </a:r>
            <a:r>
              <a:rPr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(Assistant IA et Risques).</a:t>
            </a:r>
            <a:endParaRPr sz="13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1865062" y="106471"/>
            <a:ext cx="79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Toutes les informations Société sont fictives et les personnes hors ESDIC sont fictifs également</a:t>
            </a:r>
            <a:endParaRPr i="1" sz="1100"/>
          </a:p>
        </p:txBody>
      </p:sp>
      <p:sp>
        <p:nvSpPr>
          <p:cNvPr id="122" name="Google Shape;122;p15"/>
          <p:cNvSpPr txBox="1"/>
          <p:nvPr/>
        </p:nvSpPr>
        <p:spPr>
          <a:xfrm>
            <a:off x="761997" y="1171725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Secteur d'activité : </a:t>
            </a:r>
            <a:r>
              <a:rPr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Logistique et transport de marchandises critiques (secteur sensible aux interruptions de service et aux ransomwares).   </a:t>
            </a:r>
            <a:r>
              <a:rPr b="1"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Taille : </a:t>
            </a:r>
            <a:r>
              <a:rPr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450 collaborateurs répartis sur 3 sites.</a:t>
            </a:r>
            <a:endParaRPr sz="135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Contexte : </a:t>
            </a:r>
            <a:r>
              <a:rPr lang="en-US" sz="135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La société a récemment subi une tentative d'intrusion et le conseil d'administration exige désormais une visibilité en temps réel sur la sécurité.</a:t>
            </a:r>
            <a:endParaRPr sz="135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5">
            <a:hlinkClick action="ppaction://hlinksldjump" r:id="rId8"/>
          </p:cNvPr>
          <p:cNvSpPr/>
          <p:nvPr/>
        </p:nvSpPr>
        <p:spPr>
          <a:xfrm>
            <a:off x="10598975" y="6341257"/>
            <a:ext cx="261000" cy="254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65F2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EDB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7"/>
            <a:ext cx="12191999" cy="6854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4025" y="2990325"/>
            <a:ext cx="5619375" cy="271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39275" y="38576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34600" y="1314012"/>
            <a:ext cx="53508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32B"/>
                </a:solidFill>
                <a:latin typeface="Cinzel"/>
                <a:ea typeface="Cinzel"/>
                <a:cs typeface="Cinzel"/>
                <a:sym typeface="Cinzel"/>
              </a:rPr>
              <a:t>Tableau de bord cybersécurité </a:t>
            </a:r>
            <a:endParaRPr b="1" sz="1950">
              <a:solidFill>
                <a:srgbClr val="0B132B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32B"/>
                </a:solidFill>
                <a:latin typeface="Cinzel"/>
                <a:ea typeface="Cinzel"/>
                <a:cs typeface="Cinzel"/>
                <a:sym typeface="Cinzel"/>
              </a:rPr>
              <a:t>pour dirigeants</a:t>
            </a:r>
            <a:endParaRPr b="1" sz="1950">
              <a:solidFill>
                <a:srgbClr val="0B132B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50">
              <a:solidFill>
                <a:srgbClr val="0B132B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634600" y="2019687"/>
            <a:ext cx="723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Travail sur l’univers GOOGLE WORKSPACE.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950000" y="1314012"/>
            <a:ext cx="509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Centraliser les informations de sécurité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950000" y="1647387"/>
            <a:ext cx="509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Fournir des indicateurs fiables 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950000" y="1980762"/>
            <a:ext cx="509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Faciliter la prise de décision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0000" y="13521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0000" y="168548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0000" y="201886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9725025" y="381000"/>
            <a:ext cx="2382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50">
                <a:solidFill>
                  <a:schemeClr val="dk1"/>
                </a:solidFill>
                <a:latin typeface="Cinzel"/>
                <a:ea typeface="Cinzel"/>
                <a:cs typeface="Cinzel"/>
                <a:sym typeface="Cinzel"/>
              </a:rPr>
              <a:t>Promo turing - equipe fhmv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B132B"/>
                </a:solidFill>
                <a:latin typeface="Cinzel"/>
                <a:ea typeface="Cinzel"/>
                <a:cs typeface="Cinzel"/>
                <a:sym typeface="Cinzel"/>
              </a:rPr>
              <a:t>L</a:t>
            </a:r>
            <a:r>
              <a:rPr b="1" lang="en-US" sz="2850">
                <a:solidFill>
                  <a:srgbClr val="0B132B"/>
                </a:solidFill>
                <a:latin typeface="Cinzel"/>
                <a:ea typeface="Cinzel"/>
                <a:cs typeface="Cinzel"/>
                <a:sym typeface="Cinzel"/>
              </a:rPr>
              <a:t>A DEMANDE DU COPROJ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762000" y="1152525"/>
            <a:ext cx="10668000" cy="1905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4950038" y="2352237"/>
            <a:ext cx="509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Améliorer la gouvernance cyber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0038" y="239033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6458854" y="3135762"/>
            <a:ext cx="5350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B132B"/>
                </a:solidFill>
                <a:latin typeface="Cinzel"/>
                <a:ea typeface="Cinzel"/>
                <a:cs typeface="Cinzel"/>
                <a:sym typeface="Cinzel"/>
              </a:rPr>
              <a:t>Méthodologie appliquée par copil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458854" y="3443225"/>
            <a:ext cx="39606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DM Sans"/>
              <a:buChar char="●"/>
            </a:pPr>
            <a:r>
              <a:rPr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Analyse des besoins</a:t>
            </a:r>
            <a:endParaRPr sz="13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DM Sans"/>
              <a:buChar char="●"/>
            </a:pPr>
            <a:r>
              <a:rPr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Identification des KPI</a:t>
            </a:r>
            <a:endParaRPr sz="13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DM Sans"/>
              <a:buChar char="●"/>
            </a:pPr>
            <a:r>
              <a:rPr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Collecte des données</a:t>
            </a:r>
            <a:endParaRPr sz="13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DM Sans"/>
              <a:buChar char="●"/>
            </a:pPr>
            <a:r>
              <a:rPr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Développement du tableau de bord</a:t>
            </a:r>
            <a:endParaRPr sz="13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DM Sans"/>
              <a:buChar char="●"/>
            </a:pPr>
            <a:r>
              <a:rPr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Tests</a:t>
            </a:r>
            <a:endParaRPr sz="13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DM Sans"/>
              <a:buChar char="●"/>
            </a:pPr>
            <a:r>
              <a:rPr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Déploiement</a:t>
            </a:r>
            <a:endParaRPr sz="13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DM Sans"/>
              <a:buChar char="●"/>
            </a:pPr>
            <a:r>
              <a:rPr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Formation</a:t>
            </a:r>
            <a:endParaRPr sz="13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6" name="Google Shape;146;p16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2327" y="2990325"/>
            <a:ext cx="5439775" cy="3734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>
            <a:hlinkClick action="ppaction://hlinksldjump" r:id="rId9"/>
          </p:cNvPr>
          <p:cNvSpPr/>
          <p:nvPr/>
        </p:nvSpPr>
        <p:spPr>
          <a:xfrm>
            <a:off x="10598975" y="6355000"/>
            <a:ext cx="261000" cy="254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65F2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3750300" y="6125000"/>
            <a:ext cx="2101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rPr>
              <a:t>Methode agile</a:t>
            </a:r>
            <a:endParaRPr b="1" sz="1950">
              <a:solidFill>
                <a:schemeClr val="lt1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-3524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0"/>
              <a:buFont typeface="Cinzel"/>
              <a:buChar char="-"/>
            </a:pPr>
            <a:r>
              <a:rPr b="1" lang="en-US" sz="1950">
                <a:solidFill>
                  <a:schemeClr val="lt1"/>
                </a:solidFill>
                <a:latin typeface="Cinzel"/>
                <a:ea typeface="Cinzel"/>
                <a:cs typeface="Cinzel"/>
                <a:sym typeface="Cinzel"/>
              </a:rPr>
              <a:t>KANBAN</a:t>
            </a:r>
            <a:endParaRPr b="1" sz="1950">
              <a:solidFill>
                <a:schemeClr val="lt1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" y="1727"/>
            <a:ext cx="12191999" cy="6854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9275" y="38576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1238250" y="2019702"/>
            <a:ext cx="3630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Planning de première sortie en 8 semaines</a:t>
            </a:r>
            <a:b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b="1" lang="en-US" sz="1350">
                <a:solidFill>
                  <a:srgbClr val="F4EEDB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 Gantt</a:t>
            </a:r>
            <a:endParaRPr/>
          </a:p>
        </p:txBody>
      </p:sp>
      <p:sp>
        <p:nvSpPr>
          <p:cNvPr id="156" name="Google Shape;156;p17">
            <a:hlinkClick r:id="rId7"/>
          </p:cNvPr>
          <p:cNvSpPr txBox="1"/>
          <p:nvPr/>
        </p:nvSpPr>
        <p:spPr>
          <a:xfrm>
            <a:off x="1238250" y="1318775"/>
            <a:ext cx="852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Note de cadrage</a:t>
            </a:r>
            <a:endParaRPr/>
          </a:p>
        </p:txBody>
      </p:sp>
      <p:sp>
        <p:nvSpPr>
          <p:cNvPr id="157" name="Google Shape;157;p17">
            <a:hlinkClick r:id="rId8"/>
          </p:cNvPr>
          <p:cNvSpPr txBox="1"/>
          <p:nvPr/>
        </p:nvSpPr>
        <p:spPr>
          <a:xfrm>
            <a:off x="1238250" y="3004900"/>
            <a:ext cx="445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Plan de communication et conduite du changement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238250" y="1562938"/>
            <a:ext cx="852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Element en V1.0, avec tous les éléments demandés par le COPROJ, CODIR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238250" y="3338275"/>
            <a:ext cx="85248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La création du poste de DPO, le soutien de l’équipe RSSI et du COPROJ pour la partie technique.</a:t>
            </a:r>
            <a:b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Formation et apprentissage ludique des équipes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1985525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13140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3000137"/>
            <a:ext cx="266700" cy="276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" name="Google Shape;163;p17"/>
          <p:cNvSpPr txBox="1"/>
          <p:nvPr/>
        </p:nvSpPr>
        <p:spPr>
          <a:xfrm>
            <a:off x="9725025" y="381000"/>
            <a:ext cx="2306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Promo turing - equipe fhmv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Notre vision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762000" y="1152525"/>
            <a:ext cx="10668000" cy="19050"/>
          </a:xfrm>
          <a:prstGeom prst="rect">
            <a:avLst/>
          </a:prstGeom>
          <a:solidFill>
            <a:srgbClr val="E65F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>
            <a:hlinkClick r:id="rId12"/>
          </p:cNvPr>
          <p:cNvSpPr txBox="1"/>
          <p:nvPr/>
        </p:nvSpPr>
        <p:spPr>
          <a:xfrm>
            <a:off x="5347975" y="2019692"/>
            <a:ext cx="10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RACI</a:t>
            </a:r>
            <a:endParaRPr/>
          </a:p>
        </p:txBody>
      </p:sp>
      <p:sp>
        <p:nvSpPr>
          <p:cNvPr id="167" name="Google Shape;167;p17">
            <a:hlinkClick r:id="rId13"/>
          </p:cNvPr>
          <p:cNvSpPr txBox="1"/>
          <p:nvPr/>
        </p:nvSpPr>
        <p:spPr>
          <a:xfrm>
            <a:off x="6424075" y="2019692"/>
            <a:ext cx="10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WBS</a:t>
            </a:r>
            <a:endParaRPr/>
          </a:p>
        </p:txBody>
      </p:sp>
      <p:sp>
        <p:nvSpPr>
          <p:cNvPr id="168" name="Google Shape;168;p17">
            <a:hlinkClick r:id="rId14"/>
          </p:cNvPr>
          <p:cNvSpPr txBox="1"/>
          <p:nvPr/>
        </p:nvSpPr>
        <p:spPr>
          <a:xfrm>
            <a:off x="7500175" y="2019704"/>
            <a:ext cx="10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Risques</a:t>
            </a:r>
            <a:endParaRPr/>
          </a:p>
        </p:txBody>
      </p:sp>
      <p:sp>
        <p:nvSpPr>
          <p:cNvPr id="169" name="Google Shape;169;p17">
            <a:hlinkClick r:id="rId15"/>
          </p:cNvPr>
          <p:cNvSpPr txBox="1"/>
          <p:nvPr/>
        </p:nvSpPr>
        <p:spPr>
          <a:xfrm>
            <a:off x="8706739" y="2011779"/>
            <a:ext cx="107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Budget</a:t>
            </a:r>
            <a:endParaRPr/>
          </a:p>
        </p:txBody>
      </p:sp>
      <p:sp>
        <p:nvSpPr>
          <p:cNvPr id="170" name="Google Shape;170;p17">
            <a:hlinkClick r:id="rId16"/>
          </p:cNvPr>
          <p:cNvSpPr txBox="1"/>
          <p:nvPr/>
        </p:nvSpPr>
        <p:spPr>
          <a:xfrm>
            <a:off x="6050100" y="3014300"/>
            <a:ext cx="196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Business Case</a:t>
            </a:r>
            <a:endParaRPr/>
          </a:p>
        </p:txBody>
      </p:sp>
      <p:sp>
        <p:nvSpPr>
          <p:cNvPr id="171" name="Google Shape;171;p17">
            <a:hlinkClick r:id="rId17"/>
          </p:cNvPr>
          <p:cNvSpPr/>
          <p:nvPr/>
        </p:nvSpPr>
        <p:spPr>
          <a:xfrm>
            <a:off x="3207150" y="5543500"/>
            <a:ext cx="2729700" cy="8364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E65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Ensemble des documents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>
            <a:hlinkClick r:id="rId18"/>
          </p:cNvPr>
          <p:cNvSpPr txBox="1"/>
          <p:nvPr/>
        </p:nvSpPr>
        <p:spPr>
          <a:xfrm>
            <a:off x="1238250" y="4130750"/>
            <a:ext cx="1705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IA et son journal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200225" y="4461975"/>
            <a:ext cx="852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Le gain du temps si l’IA est géré et critiqué, donc la charte de gouvernance vient encadrer cela.</a:t>
            </a:r>
            <a:endParaRPr/>
          </a:p>
        </p:txBody>
      </p:sp>
      <p:pic>
        <p:nvPicPr>
          <p:cNvPr descr="image.png" id="174" name="Google Shape;17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4130750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>
            <a:hlinkClick r:id="rId19"/>
          </p:cNvPr>
          <p:cNvSpPr txBox="1"/>
          <p:nvPr/>
        </p:nvSpPr>
        <p:spPr>
          <a:xfrm>
            <a:off x="3631338" y="4151169"/>
            <a:ext cx="445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Charte de Gouvernance</a:t>
            </a:r>
            <a:endParaRPr/>
          </a:p>
        </p:txBody>
      </p:sp>
      <p:sp>
        <p:nvSpPr>
          <p:cNvPr id="176" name="Google Shape;176;p17">
            <a:hlinkClick action="ppaction://hlinksldjump" r:id="rId20"/>
          </p:cNvPr>
          <p:cNvSpPr/>
          <p:nvPr/>
        </p:nvSpPr>
        <p:spPr>
          <a:xfrm>
            <a:off x="10598975" y="6355000"/>
            <a:ext cx="261000" cy="254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65F2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7"/>
            <a:ext cx="12191999" cy="6854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9275" y="38576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881682" y="184211"/>
            <a:ext cx="9881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IA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250800" y="1117661"/>
            <a:ext cx="1143000" cy="38100"/>
          </a:xfrm>
          <a:prstGeom prst="rect">
            <a:avLst/>
          </a:prstGeom>
          <a:solidFill>
            <a:srgbClr val="E65F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2488550" y="1393886"/>
            <a:ext cx="6667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Gouvernance de l’IA.</a:t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9725025" y="381000"/>
            <a:ext cx="2336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Promo turing - equipe fhmv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0" y="1840000"/>
            <a:ext cx="11861400" cy="3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●"/>
            </a:pPr>
            <a:r>
              <a:rPr b="1" lang="en-US" sz="1350" u="sng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Journal d’IA de travail du COPIL</a:t>
            </a:r>
            <a:endParaRPr b="1" sz="1350" u="sng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○"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Aide : accélérer production, améliorer les livrables, Structurer le projet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○"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Limites : KPI génériques ou techniques + , Planning trop ambitieux, Hallucinations, Confusions termes, Absence de contexte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○"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Maitrise : Validation humaine, Reformulation, Vérification croisée, Cohérence, 0 Données sensibles, Documentation de son utilisation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●"/>
            </a:pPr>
            <a:r>
              <a:rPr b="1" lang="en-US" sz="1350" u="sng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Charte de Gouvernance IA pour l’utilisation dans la société</a:t>
            </a:r>
            <a:endParaRPr b="1" sz="1350" u="sng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○"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Matrice Feux tricolore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■"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🟢</a:t>
            </a:r>
            <a:r>
              <a:rPr lang="en-US"/>
              <a:t> </a:t>
            </a: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tilisation autorisee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■"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🟡</a:t>
            </a:r>
            <a:r>
              <a:rPr lang="en-US"/>
              <a:t> </a:t>
            </a: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Utilisation possible mais réglementé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■"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🔴</a:t>
            </a:r>
            <a:r>
              <a:rPr lang="en-US"/>
              <a:t> </a:t>
            </a: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Utilisation interdite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○"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Guide de Prompt avec des exemples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○"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Protocole Validation NotebookLM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8" name="Google Shape;18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2850" y="5661100"/>
            <a:ext cx="4695056" cy="10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>
            <a:hlinkClick action="ppaction://hlinksldjump" r:id="rId8"/>
          </p:cNvPr>
          <p:cNvSpPr/>
          <p:nvPr/>
        </p:nvSpPr>
        <p:spPr>
          <a:xfrm>
            <a:off x="10598975" y="6355000"/>
            <a:ext cx="261000" cy="254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65F2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7"/>
            <a:ext cx="12191999" cy="6854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9275" y="38576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881682" y="184211"/>
            <a:ext cx="9881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Risques 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250800" y="1117661"/>
            <a:ext cx="1143000" cy="38100"/>
          </a:xfrm>
          <a:prstGeom prst="rect">
            <a:avLst/>
          </a:prstGeom>
          <a:solidFill>
            <a:srgbClr val="E65F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2488550" y="1393886"/>
            <a:ext cx="6667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Sécurisation de la trajectoire financière et opérationnelle</a:t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9725025" y="381000"/>
            <a:ext cx="2336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Promo turing - equipe fhmv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0" y="1840000"/>
            <a:ext cx="11861400" cy="4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●"/>
            </a:pPr>
            <a:r>
              <a:rPr b="1" lang="en-US" sz="1350" u="sng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Registre des risques</a:t>
            </a:r>
            <a:endParaRPr b="1" sz="1350" u="sng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○"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Données, techniques, fonctionnels, organisationnels, gestion de projet, conformité et confidentialité, prise de décision,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○"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Registre avec les premiers risques identifiés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●"/>
            </a:pPr>
            <a:r>
              <a:rPr b="1" lang="en-US" sz="1350" u="sng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Budget estimatif</a:t>
            </a:r>
            <a:endParaRPr b="1" sz="1350" u="sng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○"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Cadre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■"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🟢</a:t>
            </a:r>
            <a:r>
              <a:rPr lang="en-US"/>
              <a:t> </a:t>
            </a: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Budget prévisionnel demandé </a:t>
            </a:r>
            <a:r>
              <a:rPr b="1" lang="en-U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25 000€</a:t>
            </a:r>
            <a:endParaRPr b="1"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●"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Définition et affinage des besoins, et présentation des KPI	 5000€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●"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Intégration des données et DEV Dashboard 12000€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●"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Tests, Validation, formation, documentation 3000€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DM Sans"/>
              <a:buChar char="■"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🟡</a:t>
            </a:r>
            <a:r>
              <a:rPr lang="en-US"/>
              <a:t> </a:t>
            </a: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Risques budget insuffisant : Sous estimation, retard de livraison, Non conformité RGPD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19">
            <a:hlinkClick action="ppaction://hlinksldjump" r:id="rId7"/>
          </p:cNvPr>
          <p:cNvSpPr/>
          <p:nvPr/>
        </p:nvSpPr>
        <p:spPr>
          <a:xfrm>
            <a:off x="10598975" y="6355000"/>
            <a:ext cx="261000" cy="254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65F2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8">
            <a:alphaModFix/>
          </a:blip>
          <a:srcRect b="6140" l="11623" r="10738" t="5521"/>
          <a:stretch/>
        </p:blipFill>
        <p:spPr>
          <a:xfrm>
            <a:off x="7479877" y="2515875"/>
            <a:ext cx="4521600" cy="280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" y="1727"/>
            <a:ext cx="12191999" cy="6854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9275" y="38576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>
            <a:hlinkClick r:id="rId5"/>
          </p:cNvPr>
          <p:cNvSpPr txBox="1"/>
          <p:nvPr/>
        </p:nvSpPr>
        <p:spPr>
          <a:xfrm>
            <a:off x="4210123" y="1896523"/>
            <a:ext cx="3022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Capacité de reprise après sinistre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3140300" y="5843125"/>
            <a:ext cx="3389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Légende</a:t>
            </a:r>
            <a:endParaRPr sz="10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○ 🟢 Vert : Objectif 100%</a:t>
            </a:r>
            <a:endParaRPr sz="10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○ 🟡 Orange : problème mineur encore non résolu</a:t>
            </a:r>
            <a:endParaRPr sz="10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0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○ </a:t>
            </a:r>
            <a:r>
              <a:rPr lang="en-US" sz="10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🔴</a:t>
            </a:r>
            <a:r>
              <a:rPr lang="en-US" sz="10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Rouge : problème majeur à résoudre en urgence</a:t>
            </a:r>
            <a:endParaRPr sz="10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image.png" id="211" name="Google Shape;21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95075" y="2481375"/>
            <a:ext cx="613934" cy="63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9725025" y="381000"/>
            <a:ext cx="2306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Promo turing - equipe fhmv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DASHBOARD CYBERSECURITE DIRIGEANTS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762000" y="1152525"/>
            <a:ext cx="10668000" cy="19200"/>
          </a:xfrm>
          <a:prstGeom prst="rect">
            <a:avLst/>
          </a:prstGeom>
          <a:solidFill>
            <a:srgbClr val="E65F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3833304" y="1804273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🟢</a:t>
            </a:r>
            <a:endParaRPr/>
          </a:p>
        </p:txBody>
      </p:sp>
      <p:sp>
        <p:nvSpPr>
          <p:cNvPr id="216" name="Google Shape;216;p20">
            <a:hlinkClick r:id="rId7"/>
          </p:cNvPr>
          <p:cNvSpPr txBox="1"/>
          <p:nvPr/>
        </p:nvSpPr>
        <p:spPr>
          <a:xfrm>
            <a:off x="4210448" y="2343723"/>
            <a:ext cx="361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Temps d’exposition aux risques majeurs</a:t>
            </a:r>
            <a:endParaRPr/>
          </a:p>
        </p:txBody>
      </p:sp>
      <p:sp>
        <p:nvSpPr>
          <p:cNvPr id="217" name="Google Shape;217;p20">
            <a:hlinkClick r:id="rId8"/>
          </p:cNvPr>
          <p:cNvSpPr txBox="1"/>
          <p:nvPr/>
        </p:nvSpPr>
        <p:spPr>
          <a:xfrm>
            <a:off x="4195267" y="2810099"/>
            <a:ext cx="4284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Niveau de protection des accès de l’entreprise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3818448" y="2717849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🟢</a:t>
            </a:r>
            <a:endParaRPr/>
          </a:p>
        </p:txBody>
      </p:sp>
      <p:sp>
        <p:nvSpPr>
          <p:cNvPr id="219" name="Google Shape;219;p20">
            <a:hlinkClick r:id="rId9"/>
          </p:cNvPr>
          <p:cNvSpPr txBox="1"/>
          <p:nvPr/>
        </p:nvSpPr>
        <p:spPr>
          <a:xfrm>
            <a:off x="4195273" y="3287623"/>
            <a:ext cx="3493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Vigilance face aux risques humains</a:t>
            </a:r>
            <a:endParaRPr/>
          </a:p>
        </p:txBody>
      </p:sp>
      <p:sp>
        <p:nvSpPr>
          <p:cNvPr id="220" name="Google Shape;220;p20">
            <a:hlinkClick r:id="rId10"/>
          </p:cNvPr>
          <p:cNvSpPr txBox="1"/>
          <p:nvPr/>
        </p:nvSpPr>
        <p:spPr>
          <a:xfrm>
            <a:off x="4195220" y="3765150"/>
            <a:ext cx="4284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Efficacité de la cellule de réponse aux attaques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3818404" y="3672892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🟢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3426063" y="1804275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🟡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3426063" y="2253599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🟡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3426063" y="3672925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🟡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3018856" y="1502725"/>
            <a:ext cx="1674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M-1 / M / M+1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3018850" y="1804275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🔴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3018850" y="2263850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🔴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3018850" y="2725893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🔴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3018850" y="3198175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🔴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3018850" y="3672925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🔴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3443082" y="3198175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🔴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3818388" y="3195375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🟡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3443075" y="2724825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🔴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3833288" y="2261050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🟡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7131700" y="1794725"/>
            <a:ext cx="4284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Objectif &gt; 95% pour parer les ransomwares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7689075" y="2302413"/>
            <a:ext cx="4284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Objectif &lt; 48h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8206425" y="2779925"/>
            <a:ext cx="3885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Objectif 100%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7232625" y="3195375"/>
            <a:ext cx="3885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Objectif &lt; 5%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8206425" y="3671387"/>
            <a:ext cx="3885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Objectif &lt;1 incidents critiques Vs résolus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20">
            <a:hlinkClick action="ppaction://hlinksldjump" r:id="rId11"/>
          </p:cNvPr>
          <p:cNvSpPr/>
          <p:nvPr/>
        </p:nvSpPr>
        <p:spPr>
          <a:xfrm>
            <a:off x="10598975" y="6355000"/>
            <a:ext cx="261000" cy="254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65F2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" y="1727"/>
            <a:ext cx="12191999" cy="6854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9275" y="38576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>
            <a:hlinkClick action="ppaction://hlinksldjump" r:id="rId5"/>
          </p:cNvPr>
          <p:cNvSpPr txBox="1"/>
          <p:nvPr/>
        </p:nvSpPr>
        <p:spPr>
          <a:xfrm>
            <a:off x="4229478" y="2596728"/>
            <a:ext cx="3022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Dashboard de principe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9725025" y="381000"/>
            <a:ext cx="2306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Promo turing - equipe fhmv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4EEDB"/>
                </a:solidFill>
                <a:latin typeface="Cinzel"/>
                <a:ea typeface="Cinzel"/>
                <a:cs typeface="Cinzel"/>
                <a:sym typeface="Cinzel"/>
              </a:rPr>
              <a:t>DEMANDE de VALIDATION CODIR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762000" y="1152525"/>
            <a:ext cx="10668000" cy="19200"/>
          </a:xfrm>
          <a:prstGeom prst="rect">
            <a:avLst/>
          </a:prstGeom>
          <a:solidFill>
            <a:srgbClr val="E65F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3819559" y="2509146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🟢</a:t>
            </a:r>
            <a:endParaRPr/>
          </a:p>
        </p:txBody>
      </p:sp>
      <p:sp>
        <p:nvSpPr>
          <p:cNvPr id="252" name="Google Shape;252;p21">
            <a:hlinkClick r:id="rId6"/>
          </p:cNvPr>
          <p:cNvSpPr txBox="1"/>
          <p:nvPr/>
        </p:nvSpPr>
        <p:spPr>
          <a:xfrm>
            <a:off x="4229486" y="3992047"/>
            <a:ext cx="1702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4EEDB"/>
                </a:solidFill>
                <a:latin typeface="DM Sans"/>
                <a:ea typeface="DM Sans"/>
                <a:cs typeface="DM Sans"/>
                <a:sym typeface="DM Sans"/>
              </a:rPr>
              <a:t>Budget de principe</a:t>
            </a:r>
            <a:endParaRPr b="1" sz="1350">
              <a:solidFill>
                <a:srgbClr val="F4EED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3819553" y="3899796"/>
            <a:ext cx="37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🟢</a:t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857000" y="2287150"/>
            <a:ext cx="2729700" cy="8364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E65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995650" y="3677800"/>
            <a:ext cx="2729700" cy="8364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E65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>
            <a:hlinkClick action="ppaction://hlinksldjump" r:id="rId7"/>
          </p:cNvPr>
          <p:cNvSpPr/>
          <p:nvPr/>
        </p:nvSpPr>
        <p:spPr>
          <a:xfrm>
            <a:off x="10598975" y="6355000"/>
            <a:ext cx="261000" cy="254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65F2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229475" y="4292200"/>
            <a:ext cx="44085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Budget simplifié réalisé avec COPROJ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Budget complet à affiner avec le COPROJ (RSSI)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229475" y="2901550"/>
            <a:ext cx="44085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Avec le RSSI : gestion des données en Google Sheets, 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88888"/>
                </a:solidFill>
                <a:latin typeface="DM Sans"/>
                <a:ea typeface="DM Sans"/>
                <a:cs typeface="DM Sans"/>
                <a:sym typeface="DM Sans"/>
              </a:rPr>
              <a:t>Validation des KPI, et des seuils ?</a:t>
            </a:r>
            <a:endParaRPr sz="1350">
              <a:solidFill>
                <a:srgbClr val="8888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EDB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7"/>
            <a:ext cx="12191999" cy="6854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9275" y="385762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2"/>
          <p:cNvSpPr txBox="1"/>
          <p:nvPr/>
        </p:nvSpPr>
        <p:spPr>
          <a:xfrm>
            <a:off x="2156325" y="2400806"/>
            <a:ext cx="800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132B"/>
                </a:solidFill>
                <a:latin typeface="Cinzel"/>
                <a:ea typeface="Cinzel"/>
                <a:cs typeface="Cinzel"/>
                <a:sym typeface="Cinzel"/>
              </a:rPr>
              <a:t>DES QUESTIONS ?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1736550" y="4101250"/>
            <a:ext cx="9184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Remerciements à Thierry CHADELAUD pour la formation, et à l’équipe 1 pour leur travail et leur vision.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2286000" y="6555381"/>
            <a:ext cx="7620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1 Team, 1 Envie de progresser  ⇒ l’équipe FHMV : Feity, </a:t>
            </a:r>
            <a:r>
              <a:rPr lang="en-US" sz="1125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Hakima, Mohammad, Volny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9725025" y="381000"/>
            <a:ext cx="246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50">
                <a:solidFill>
                  <a:schemeClr val="dk1"/>
                </a:solidFill>
                <a:latin typeface="Cinzel"/>
                <a:ea typeface="Cinzel"/>
                <a:cs typeface="Cinzel"/>
                <a:sym typeface="Cinzel"/>
              </a:rPr>
              <a:t>Promo turing - equipe fhmv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1564575" y="4635763"/>
            <a:ext cx="9184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Remerciements à l’équipe du COPIL : </a:t>
            </a:r>
            <a:endParaRPr sz="150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FEITY</a:t>
            </a:r>
            <a:endParaRPr sz="150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HAKIMA</a:t>
            </a:r>
            <a:endParaRPr sz="150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MOHAMMAD</a:t>
            </a:r>
            <a:endParaRPr sz="150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0" name="Google Shape;270;p22">
            <a:hlinkClick action="ppaction://hlinksldjump" r:id="rId5"/>
          </p:cNvPr>
          <p:cNvSpPr/>
          <p:nvPr/>
        </p:nvSpPr>
        <p:spPr>
          <a:xfrm>
            <a:off x="10598975" y="6355000"/>
            <a:ext cx="261000" cy="2541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65F2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